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"/>
  </p:notesMasterIdLst>
  <p:handoutMasterIdLst>
    <p:handoutMasterId r:id="rId4"/>
  </p:handoutMasterIdLst>
  <p:sldIdLst>
    <p:sldId id="757" r:id="rId2"/>
  </p:sldIdLst>
  <p:sldSz cx="9144000" cy="6858000" type="screen4x3"/>
  <p:notesSz cx="6805613" cy="9939338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5pPr>
    <a:lvl6pPr marL="2286000" algn="l" defTabSz="914400" rtl="0" eaLnBrk="1" latinLnBrk="0" hangingPunct="1"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6pPr>
    <a:lvl7pPr marL="2743200" algn="l" defTabSz="914400" rtl="0" eaLnBrk="1" latinLnBrk="0" hangingPunct="1"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7pPr>
    <a:lvl8pPr marL="3200400" algn="l" defTabSz="914400" rtl="0" eaLnBrk="1" latinLnBrk="0" hangingPunct="1"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8pPr>
    <a:lvl9pPr marL="3657600" algn="l" defTabSz="914400" rtl="0" eaLnBrk="1" latinLnBrk="0" hangingPunct="1">
      <a:defRPr kumimoji="1" sz="800" kern="1200">
        <a:solidFill>
          <a:schemeClr val="tx1"/>
        </a:solidFill>
        <a:latin typeface="HG丸ｺﾞｼｯｸM-PRO" pitchFamily="50" charset="-128"/>
        <a:ea typeface="HG丸ｺﾞｼｯｸM-PRO" pitchFamily="5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3333CC"/>
    <a:srgbClr val="0000FF"/>
    <a:srgbClr val="0066FF"/>
    <a:srgbClr val="0099FF"/>
    <a:srgbClr val="FF9933"/>
    <a:srgbClr val="66FF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68" autoAdjust="0"/>
    <p:restoredTop sz="99292" autoAdjust="0"/>
  </p:normalViewPr>
  <p:slideViewPr>
    <p:cSldViewPr>
      <p:cViewPr>
        <p:scale>
          <a:sx n="100" d="100"/>
          <a:sy n="100" d="100"/>
        </p:scale>
        <p:origin x="-630" y="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410" y="-9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9687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322" y="1"/>
            <a:ext cx="2949686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62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0693"/>
            <a:ext cx="2949687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62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322" y="9440693"/>
            <a:ext cx="2949686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42807F75-5ADD-437F-9851-A97A43C37CE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41575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9687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322" y="1"/>
            <a:ext cx="2949686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99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73637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1" y="4721146"/>
            <a:ext cx="5445453" cy="4473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0693"/>
            <a:ext cx="2949687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322" y="9440693"/>
            <a:ext cx="2949686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E50E943-DEB7-442F-B742-62B1241FC07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14594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705721-5221-4125-9198-5BCF08D0DA69}" type="slidenum">
              <a:rPr lang="en-US" altLang="ja-JP" smtClean="0"/>
              <a:pPr/>
              <a:t>1</a:t>
            </a:fld>
            <a:endParaRPr lang="en-US" altLang="ja-JP" smtClean="0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2"/>
          <p:cNvSpPr>
            <a:spLocks noChangeArrowheads="1"/>
          </p:cNvSpPr>
          <p:nvPr/>
        </p:nvSpPr>
        <p:spPr bwMode="auto">
          <a:xfrm>
            <a:off x="914400" y="2590800"/>
            <a:ext cx="7315200" cy="304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" name="Line 1033"/>
          <p:cNvSpPr>
            <a:spLocks noChangeShapeType="1"/>
          </p:cNvSpPr>
          <p:nvPr/>
        </p:nvSpPr>
        <p:spPr bwMode="auto">
          <a:xfrm>
            <a:off x="914400" y="2590800"/>
            <a:ext cx="7315200" cy="0"/>
          </a:xfrm>
          <a:prstGeom prst="line">
            <a:avLst/>
          </a:prstGeom>
          <a:noFill/>
          <a:ln w="57150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6" name="Line 1034"/>
          <p:cNvSpPr>
            <a:spLocks noChangeShapeType="1"/>
          </p:cNvSpPr>
          <p:nvPr/>
        </p:nvSpPr>
        <p:spPr bwMode="auto">
          <a:xfrm>
            <a:off x="914400" y="2895600"/>
            <a:ext cx="73152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7" name="Rectangle 1038"/>
          <p:cNvSpPr>
            <a:spLocks noChangeArrowheads="1"/>
          </p:cNvSpPr>
          <p:nvPr/>
        </p:nvSpPr>
        <p:spPr bwMode="auto">
          <a:xfrm>
            <a:off x="153988" y="533400"/>
            <a:ext cx="8848725" cy="2317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99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endParaRPr lang="ja-JP" altLang="ja-JP" sz="1400">
              <a:solidFill>
                <a:schemeClr val="bg1"/>
              </a:solidFill>
            </a:endParaRPr>
          </a:p>
        </p:txBody>
      </p:sp>
      <p:sp>
        <p:nvSpPr>
          <p:cNvPr id="8" name="Line 1039"/>
          <p:cNvSpPr>
            <a:spLocks noChangeShapeType="1"/>
          </p:cNvSpPr>
          <p:nvPr/>
        </p:nvSpPr>
        <p:spPr bwMode="auto">
          <a:xfrm flipH="1" flipV="1">
            <a:off x="134938" y="765175"/>
            <a:ext cx="8850312" cy="3175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9" name="Rectangle 1040"/>
          <p:cNvSpPr>
            <a:spLocks noChangeArrowheads="1"/>
          </p:cNvSpPr>
          <p:nvPr/>
        </p:nvSpPr>
        <p:spPr bwMode="auto">
          <a:xfrm>
            <a:off x="1908175" y="6534150"/>
            <a:ext cx="5473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ja-JP" sz="1000">
                <a:solidFill>
                  <a:srgbClr val="0066FF"/>
                </a:solidFill>
              </a:rPr>
              <a:t>Copyright 2014 </a:t>
            </a:r>
            <a:r>
              <a:rPr lang="en-US" altLang="ja-JP" sz="1000">
                <a:solidFill>
                  <a:srgbClr val="0066FF"/>
                </a:solidFill>
                <a:latin typeface="Times New Roman"/>
              </a:rPr>
              <a:t>©</a:t>
            </a:r>
            <a:r>
              <a:rPr lang="en-US" altLang="ja-JP" sz="1000">
                <a:solidFill>
                  <a:srgbClr val="0066FF"/>
                </a:solidFill>
              </a:rPr>
              <a:t> All rights reserved, TIGER CORPORATION</a:t>
            </a:r>
          </a:p>
        </p:txBody>
      </p:sp>
      <p:sp>
        <p:nvSpPr>
          <p:cNvPr id="10" name="Rectangle 1041"/>
          <p:cNvSpPr>
            <a:spLocks noChangeArrowheads="1"/>
          </p:cNvSpPr>
          <p:nvPr/>
        </p:nvSpPr>
        <p:spPr bwMode="auto">
          <a:xfrm>
            <a:off x="147638" y="6381750"/>
            <a:ext cx="8848725" cy="1524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99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1" name="Line 1042"/>
          <p:cNvSpPr>
            <a:spLocks noChangeShapeType="1"/>
          </p:cNvSpPr>
          <p:nvPr/>
        </p:nvSpPr>
        <p:spPr bwMode="auto">
          <a:xfrm flipH="1" flipV="1">
            <a:off x="133350" y="6534150"/>
            <a:ext cx="8850313" cy="3175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pic>
        <p:nvPicPr>
          <p:cNvPr id="12" name="Picture 1050" descr="社外秘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0"/>
            <a:ext cx="8858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053" descr="新タイガーマーク（カラー）_40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5825" y="115888"/>
            <a:ext cx="17272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1027"/>
          <p:cNvSpPr>
            <a:spLocks noGrp="1" noChangeArrowheads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124" name="Rectangle 1028"/>
          <p:cNvSpPr>
            <a:spLocks noGrp="1" noChangeArrowheads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14" name="Rectangle 1029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503988"/>
            <a:ext cx="1752600" cy="457200"/>
          </a:xfrm>
        </p:spPr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" name="Rectangle 1049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62800" y="65484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19FED7-6B8D-4941-BDD1-2D538D402E1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313A8-56C6-44FC-B548-9F76C64F919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06253-2FA5-44C2-9883-955AA043277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14800" cy="5318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114800" cy="5318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CD395-2348-4293-9D14-3D5A96C7DB5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4EF322-A008-41DE-8605-3BEE250D940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9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740C3-2201-4131-A0D2-6A062C49D9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E7E8E-F072-499B-A81B-8EC6EE38766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6F23F3-77E1-4863-804B-B05A6E274F8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F7CD0-EEDF-41CD-B332-D2DB1907B87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637BC-73D1-4B7E-8DE2-F1DD161A080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838950" y="333375"/>
            <a:ext cx="2152650" cy="5975350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81000" y="333375"/>
            <a:ext cx="6305550" cy="5975350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578D8-BBD9-41B7-B49A-D1610BDA548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95288" y="333375"/>
            <a:ext cx="8596312" cy="431800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381000" y="990600"/>
            <a:ext cx="4114800" cy="5318125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114800" cy="5318125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0BCFA-E979-410D-B66D-3D9BEAF5E61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Rectangle 23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722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722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E526BBD0-E9D6-4C73-A5B4-E2938EB7893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90600"/>
            <a:ext cx="8382000" cy="531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第</a:t>
            </a:r>
            <a:r>
              <a:rPr lang="en-US" altLang="ja-JP" smtClean="0"/>
              <a:t>1</a:t>
            </a:r>
            <a:r>
              <a:rPr lang="ja-JP" altLang="en-US" smtClean="0"/>
              <a:t>レベル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15" name="Rectangle 19"/>
          <p:cNvSpPr>
            <a:spLocks noChangeArrowheads="1"/>
          </p:cNvSpPr>
          <p:nvPr/>
        </p:nvSpPr>
        <p:spPr bwMode="auto">
          <a:xfrm>
            <a:off x="153988" y="561975"/>
            <a:ext cx="8848725" cy="2317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99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endParaRPr lang="ja-JP" altLang="ja-JP" sz="1400">
              <a:solidFill>
                <a:schemeClr val="bg1"/>
              </a:solidFill>
            </a:endParaRPr>
          </a:p>
        </p:txBody>
      </p:sp>
      <p:sp>
        <p:nvSpPr>
          <p:cNvPr id="4117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859631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1050" y="6572250"/>
            <a:ext cx="5041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66FF"/>
                </a:solidFill>
              </a:defRPr>
            </a:lvl1pPr>
          </a:lstStyle>
          <a:p>
            <a:pPr>
              <a:defRPr/>
            </a:pPr>
            <a:r>
              <a:rPr lang="en-US" altLang="ja-JP"/>
              <a:t>Copyright 2014 </a:t>
            </a:r>
            <a:r>
              <a:rPr lang="en-US" altLang="ja-JP">
                <a:latin typeface="Times New Roman"/>
              </a:rPr>
              <a:t>©</a:t>
            </a:r>
            <a:r>
              <a:rPr lang="en-US" altLang="ja-JP"/>
              <a:t> All rights reserved, TIGER CORPORATION</a:t>
            </a:r>
          </a:p>
        </p:txBody>
      </p:sp>
      <p:sp>
        <p:nvSpPr>
          <p:cNvPr id="4120" name="Rectangle 24"/>
          <p:cNvSpPr>
            <a:spLocks noChangeArrowheads="1"/>
          </p:cNvSpPr>
          <p:nvPr/>
        </p:nvSpPr>
        <p:spPr bwMode="auto">
          <a:xfrm>
            <a:off x="147638" y="6419850"/>
            <a:ext cx="8848725" cy="1524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99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122" name="Line 26"/>
          <p:cNvSpPr>
            <a:spLocks noChangeShapeType="1"/>
          </p:cNvSpPr>
          <p:nvPr/>
        </p:nvSpPr>
        <p:spPr bwMode="auto">
          <a:xfrm flipH="1" flipV="1">
            <a:off x="133350" y="6572250"/>
            <a:ext cx="8850313" cy="3175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4126" name="Freeform 30"/>
          <p:cNvSpPr>
            <a:spLocks/>
          </p:cNvSpPr>
          <p:nvPr userDrawn="1"/>
        </p:nvSpPr>
        <p:spPr bwMode="auto">
          <a:xfrm>
            <a:off x="161925" y="803275"/>
            <a:ext cx="8842375" cy="1588"/>
          </a:xfrm>
          <a:custGeom>
            <a:avLst/>
            <a:gdLst/>
            <a:ahLst/>
            <a:cxnLst>
              <a:cxn ang="0">
                <a:pos x="5570" y="1"/>
              </a:cxn>
              <a:cxn ang="0">
                <a:pos x="0" y="0"/>
              </a:cxn>
            </a:cxnLst>
            <a:rect l="0" t="0" r="r" b="b"/>
            <a:pathLst>
              <a:path w="5570" h="1">
                <a:moveTo>
                  <a:pt x="5570" y="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pic>
        <p:nvPicPr>
          <p:cNvPr id="1035" name="Picture 31" descr="社外秘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95288" y="0"/>
            <a:ext cx="8858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33" descr="新タイガーマーク（カラー）_40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235825" y="115888"/>
            <a:ext cx="17272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400" b="1">
          <a:solidFill>
            <a:srgbClr val="272776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9pPr>
    </p:titleStyle>
    <p:bodyStyle>
      <a:lvl1pPr marL="304800" indent="-304800" algn="l" rtl="0" eaLnBrk="0" fontAlgn="base" hangingPunct="0">
        <a:spcBef>
          <a:spcPct val="20000"/>
        </a:spcBef>
        <a:spcAft>
          <a:spcPct val="0"/>
        </a:spcAft>
        <a:buClr>
          <a:srgbClr val="333399"/>
        </a:buClr>
        <a:buFont typeface="Wingdings" pitchFamily="2" charset="2"/>
        <a:buChar char="n"/>
        <a:defRPr kumimoji="1" sz="1400">
          <a:solidFill>
            <a:srgbClr val="272776"/>
          </a:solidFill>
          <a:latin typeface="+mn-lt"/>
          <a:ea typeface="+mn-ea"/>
          <a:cs typeface="+mn-cs"/>
        </a:defRPr>
      </a:lvl1pPr>
      <a:lvl2pPr marL="446088" indent="-266700" algn="l" rtl="0" eaLnBrk="0" fontAlgn="base" hangingPunct="0">
        <a:spcBef>
          <a:spcPct val="20000"/>
        </a:spcBef>
        <a:spcAft>
          <a:spcPct val="0"/>
        </a:spcAft>
        <a:buClr>
          <a:srgbClr val="3399FF"/>
        </a:buClr>
        <a:buFont typeface="Wingdings" pitchFamily="2" charset="2"/>
        <a:buChar char="u"/>
        <a:defRPr kumimoji="1" sz="1200">
          <a:solidFill>
            <a:srgbClr val="272776"/>
          </a:solidFill>
          <a:latin typeface="+mn-lt"/>
          <a:ea typeface="+mn-ea"/>
        </a:defRPr>
      </a:lvl2pPr>
      <a:lvl3pPr marL="771525" indent="-228600" algn="l" rtl="0" eaLnBrk="0" fontAlgn="base" hangingPunct="0">
        <a:spcBef>
          <a:spcPct val="20000"/>
        </a:spcBef>
        <a:spcAft>
          <a:spcPct val="0"/>
        </a:spcAft>
        <a:buClr>
          <a:srgbClr val="00FFFF"/>
        </a:buClr>
        <a:buFont typeface="Wingdings" pitchFamily="2" charset="2"/>
        <a:buChar char="l"/>
        <a:defRPr kumimoji="1" sz="1000">
          <a:solidFill>
            <a:srgbClr val="272776"/>
          </a:solidFill>
          <a:latin typeface="+mn-lt"/>
          <a:ea typeface="+mn-ea"/>
        </a:defRPr>
      </a:lvl3pPr>
      <a:lvl4pPr marL="1085850" indent="-190500" algn="l" rtl="0" eaLnBrk="0" fontAlgn="base" hangingPunct="0">
        <a:spcBef>
          <a:spcPct val="20000"/>
        </a:spcBef>
        <a:spcAft>
          <a:spcPct val="0"/>
        </a:spcAft>
        <a:buChar char="–"/>
        <a:defRPr kumimoji="1" sz="900">
          <a:solidFill>
            <a:srgbClr val="272776"/>
          </a:solidFill>
          <a:latin typeface="+mn-lt"/>
          <a:ea typeface="+mn-ea"/>
        </a:defRPr>
      </a:lvl4pPr>
      <a:lvl5pPr marL="1438275" indent="-180975" algn="l" rtl="0" eaLnBrk="0" fontAlgn="base" hangingPunct="0">
        <a:spcBef>
          <a:spcPct val="20000"/>
        </a:spcBef>
        <a:spcAft>
          <a:spcPct val="0"/>
        </a:spcAft>
        <a:buChar char="»"/>
        <a:defRPr kumimoji="1" sz="800">
          <a:solidFill>
            <a:srgbClr val="272776"/>
          </a:solidFill>
          <a:latin typeface="+mn-lt"/>
          <a:ea typeface="+mn-ea"/>
        </a:defRPr>
      </a:lvl5pPr>
      <a:lvl6pPr marL="1895475" indent="-180975" algn="l" rtl="0" fontAlgn="base">
        <a:spcBef>
          <a:spcPct val="20000"/>
        </a:spcBef>
        <a:spcAft>
          <a:spcPct val="0"/>
        </a:spcAft>
        <a:buChar char="»"/>
        <a:defRPr kumimoji="1" sz="800">
          <a:solidFill>
            <a:srgbClr val="272776"/>
          </a:solidFill>
          <a:latin typeface="+mn-lt"/>
          <a:ea typeface="+mn-ea"/>
        </a:defRPr>
      </a:lvl6pPr>
      <a:lvl7pPr marL="2352675" indent="-180975" algn="l" rtl="0" fontAlgn="base">
        <a:spcBef>
          <a:spcPct val="20000"/>
        </a:spcBef>
        <a:spcAft>
          <a:spcPct val="0"/>
        </a:spcAft>
        <a:buChar char="»"/>
        <a:defRPr kumimoji="1" sz="800">
          <a:solidFill>
            <a:srgbClr val="272776"/>
          </a:solidFill>
          <a:latin typeface="+mn-lt"/>
          <a:ea typeface="+mn-ea"/>
        </a:defRPr>
      </a:lvl7pPr>
      <a:lvl8pPr marL="2809875" indent="-180975" algn="l" rtl="0" fontAlgn="base">
        <a:spcBef>
          <a:spcPct val="20000"/>
        </a:spcBef>
        <a:spcAft>
          <a:spcPct val="0"/>
        </a:spcAft>
        <a:buChar char="»"/>
        <a:defRPr kumimoji="1" sz="800">
          <a:solidFill>
            <a:srgbClr val="272776"/>
          </a:solidFill>
          <a:latin typeface="+mn-lt"/>
          <a:ea typeface="+mn-ea"/>
        </a:defRPr>
      </a:lvl8pPr>
      <a:lvl9pPr marL="3267075" indent="-180975" algn="l" rtl="0" fontAlgn="base">
        <a:spcBef>
          <a:spcPct val="20000"/>
        </a:spcBef>
        <a:spcAft>
          <a:spcPct val="0"/>
        </a:spcAft>
        <a:buChar char="»"/>
        <a:defRPr kumimoji="1" sz="800">
          <a:solidFill>
            <a:srgbClr val="272776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8" name="Rectangle 4"/>
          <p:cNvSpPr>
            <a:spLocks noGrp="1" noChangeArrowheads="1"/>
          </p:cNvSpPr>
          <p:nvPr>
            <p:ph type="title"/>
          </p:nvPr>
        </p:nvSpPr>
        <p:spPr>
          <a:xfrm>
            <a:off x="395288" y="476671"/>
            <a:ext cx="8596312" cy="28850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ja-JP" sz="1400" dirty="0" smtClean="0"/>
              <a:t>1</a:t>
            </a:r>
            <a:r>
              <a:rPr lang="ja-JP" altLang="en-US" sz="1400" dirty="0" err="1" smtClean="0"/>
              <a:t>．</a:t>
            </a:r>
            <a:r>
              <a:rPr lang="ja-JP" altLang="en-US" sz="1400" dirty="0" smtClean="0"/>
              <a:t>ＴＡＭ　運用イメージ</a:t>
            </a: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 flipH="1">
            <a:off x="970657" y="908721"/>
            <a:ext cx="176" cy="5473029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0" name="Line 8"/>
          <p:cNvSpPr>
            <a:spLocks noChangeShapeType="1"/>
          </p:cNvSpPr>
          <p:nvPr/>
        </p:nvSpPr>
        <p:spPr bwMode="auto">
          <a:xfrm>
            <a:off x="610295" y="908721"/>
            <a:ext cx="0" cy="54730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1" name="AutoShape 9"/>
          <p:cNvSpPr>
            <a:spLocks noChangeArrowheads="1"/>
          </p:cNvSpPr>
          <p:nvPr/>
        </p:nvSpPr>
        <p:spPr bwMode="auto">
          <a:xfrm>
            <a:off x="251520" y="980728"/>
            <a:ext cx="282575" cy="5327997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12700">
            <a:noFill/>
            <a:round/>
            <a:headEnd/>
            <a:tailEnd/>
          </a:ln>
        </p:spPr>
        <p:txBody>
          <a:bodyPr vert="eaVert" wrap="none" lIns="0" tIns="0" rIns="0" bIns="0" anchor="ctr" anchorCtr="1"/>
          <a:lstStyle/>
          <a:p>
            <a:r>
              <a:rPr lang="ja-JP" altLang="en-US" sz="1200">
                <a:solidFill>
                  <a:schemeClr val="bg1"/>
                </a:solidFill>
                <a:latin typeface="Times New Roman" pitchFamily="18" charset="0"/>
              </a:rPr>
              <a:t>全体フロー</a:t>
            </a:r>
          </a:p>
        </p:txBody>
      </p:sp>
      <p:sp>
        <p:nvSpPr>
          <p:cNvPr id="32" name="Line 11"/>
          <p:cNvSpPr>
            <a:spLocks noChangeShapeType="1"/>
          </p:cNvSpPr>
          <p:nvPr/>
        </p:nvSpPr>
        <p:spPr bwMode="auto">
          <a:xfrm flipV="1">
            <a:off x="610295" y="1268760"/>
            <a:ext cx="835419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179512" y="908721"/>
            <a:ext cx="8784976" cy="547303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4" name="Text Box 104"/>
          <p:cNvSpPr txBox="1">
            <a:spLocks noChangeArrowheads="1"/>
          </p:cNvSpPr>
          <p:nvPr/>
        </p:nvSpPr>
        <p:spPr bwMode="auto">
          <a:xfrm>
            <a:off x="611560" y="1268760"/>
            <a:ext cx="33855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r>
              <a:rPr lang="ja-JP" altLang="en-US" sz="1000" dirty="0">
                <a:latin typeface="Times New Roman" pitchFamily="18" charset="0"/>
              </a:rPr>
              <a:t>気</a:t>
            </a:r>
            <a:r>
              <a:rPr lang="ja-JP" altLang="en-US" sz="1000" dirty="0" smtClean="0">
                <a:latin typeface="Times New Roman" pitchFamily="18" charset="0"/>
              </a:rPr>
              <a:t>高電機（新建高）</a:t>
            </a:r>
            <a:endParaRPr lang="ja-JP" altLang="en-US" sz="1000" dirty="0">
              <a:latin typeface="Times New Roman" pitchFamily="18" charset="0"/>
            </a:endParaRPr>
          </a:p>
        </p:txBody>
      </p:sp>
      <p:sp>
        <p:nvSpPr>
          <p:cNvPr id="36" name="Line 215"/>
          <p:cNvSpPr>
            <a:spLocks noChangeShapeType="1"/>
          </p:cNvSpPr>
          <p:nvPr/>
        </p:nvSpPr>
        <p:spPr bwMode="auto">
          <a:xfrm>
            <a:off x="627359" y="4149080"/>
            <a:ext cx="835419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2" name="Text Box 154"/>
          <p:cNvSpPr txBox="1">
            <a:spLocks noChangeArrowheads="1"/>
          </p:cNvSpPr>
          <p:nvPr/>
        </p:nvSpPr>
        <p:spPr bwMode="auto">
          <a:xfrm>
            <a:off x="627359" y="4149080"/>
            <a:ext cx="338554" cy="2232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r>
              <a:rPr lang="ja-JP" altLang="en-US" sz="1000" dirty="0" smtClean="0">
                <a:latin typeface="Times New Roman" pitchFamily="18" charset="0"/>
              </a:rPr>
              <a:t>タイガー生産管理</a:t>
            </a:r>
            <a:endParaRPr lang="ja-JP" altLang="en-US" sz="1000" dirty="0">
              <a:latin typeface="Times New Roman" pitchFamily="18" charset="0"/>
            </a:endParaRPr>
          </a:p>
        </p:txBody>
      </p:sp>
      <p:sp>
        <p:nvSpPr>
          <p:cNvPr id="92" name="Line 106"/>
          <p:cNvSpPr>
            <a:spLocks noChangeShapeType="1"/>
          </p:cNvSpPr>
          <p:nvPr/>
        </p:nvSpPr>
        <p:spPr bwMode="auto">
          <a:xfrm flipV="1">
            <a:off x="2838436" y="912541"/>
            <a:ext cx="5372" cy="54730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0" name="AutoShape 86"/>
          <p:cNvSpPr>
            <a:spLocks noChangeArrowheads="1"/>
          </p:cNvSpPr>
          <p:nvPr/>
        </p:nvSpPr>
        <p:spPr bwMode="auto">
          <a:xfrm>
            <a:off x="1115616" y="5013177"/>
            <a:ext cx="720080" cy="381898"/>
          </a:xfrm>
          <a:prstGeom prst="flowChartProcess">
            <a:avLst/>
          </a:prstGeom>
          <a:solidFill>
            <a:srgbClr val="FF99CC"/>
          </a:solidFill>
          <a:ln w="12700" algn="ctr">
            <a:solidFill>
              <a:srgbClr val="FF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altLang="ja-JP" dirty="0" smtClean="0"/>
          </a:p>
        </p:txBody>
      </p:sp>
      <p:sp>
        <p:nvSpPr>
          <p:cNvPr id="104" name="AutoShape 211"/>
          <p:cNvSpPr>
            <a:spLocks noChangeArrowheads="1"/>
          </p:cNvSpPr>
          <p:nvPr/>
        </p:nvSpPr>
        <p:spPr bwMode="auto">
          <a:xfrm rot="10800000">
            <a:off x="1187622" y="5395073"/>
            <a:ext cx="597293" cy="194166"/>
          </a:xfrm>
          <a:custGeom>
            <a:avLst/>
            <a:gdLst>
              <a:gd name="T0" fmla="*/ 2147483647 w 21600"/>
              <a:gd name="T1" fmla="*/ 4273421 h 21600"/>
              <a:gd name="T2" fmla="*/ 2147483647 w 21600"/>
              <a:gd name="T3" fmla="*/ 8546730 h 21600"/>
              <a:gd name="T4" fmla="*/ 1124737498 w 21600"/>
              <a:gd name="T5" fmla="*/ 42734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CC"/>
          </a:solidFill>
          <a:ln w="12700" algn="ctr">
            <a:solidFill>
              <a:srgbClr val="FF00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ja-JP" altLang="en-US"/>
          </a:p>
        </p:txBody>
      </p:sp>
      <p:sp>
        <p:nvSpPr>
          <p:cNvPr id="105" name="平行四辺形 104"/>
          <p:cNvSpPr/>
          <p:nvPr/>
        </p:nvSpPr>
        <p:spPr bwMode="auto">
          <a:xfrm>
            <a:off x="1187624" y="4697984"/>
            <a:ext cx="594588" cy="243184"/>
          </a:xfrm>
          <a:prstGeom prst="parallelogram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/>
              <a:t>発注</a:t>
            </a:r>
            <a:endParaRPr lang="en-US" altLang="ja-JP" dirty="0" smtClean="0"/>
          </a:p>
        </p:txBody>
      </p:sp>
      <p:sp>
        <p:nvSpPr>
          <p:cNvPr id="106" name="平行四辺形 105"/>
          <p:cNvSpPr/>
          <p:nvPr/>
        </p:nvSpPr>
        <p:spPr bwMode="auto">
          <a:xfrm>
            <a:off x="1213382" y="3068960"/>
            <a:ext cx="594588" cy="243184"/>
          </a:xfrm>
          <a:prstGeom prst="parallelogram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/>
              <a:t>発注</a:t>
            </a:r>
            <a:endParaRPr lang="en-US" altLang="ja-JP" dirty="0" smtClean="0"/>
          </a:p>
        </p:txBody>
      </p:sp>
      <p:cxnSp>
        <p:nvCxnSpPr>
          <p:cNvPr id="117" name="カギ線コネクタ 116"/>
          <p:cNvCxnSpPr>
            <a:stCxn id="105" idx="0"/>
            <a:endCxn id="106" idx="4"/>
          </p:cNvCxnSpPr>
          <p:nvPr/>
        </p:nvCxnSpPr>
        <p:spPr bwMode="auto">
          <a:xfrm rot="5400000" flipH="1" flipV="1">
            <a:off x="804877" y="3992185"/>
            <a:ext cx="1385840" cy="25758"/>
          </a:xfrm>
          <a:prstGeom prst="bentConnector3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8" name="カギ線コネクタ 117"/>
          <p:cNvCxnSpPr>
            <a:stCxn id="105" idx="0"/>
            <a:endCxn id="119" idx="2"/>
          </p:cNvCxnSpPr>
          <p:nvPr/>
        </p:nvCxnSpPr>
        <p:spPr bwMode="auto">
          <a:xfrm rot="5400000" flipH="1" flipV="1">
            <a:off x="1224143" y="3598061"/>
            <a:ext cx="1360698" cy="839148"/>
          </a:xfrm>
          <a:prstGeom prst="bentConnector3">
            <a:avLst>
              <a:gd name="adj1" fmla="val 50000"/>
            </a:avLst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9" name="AutoShape 217"/>
          <p:cNvSpPr>
            <a:spLocks noChangeArrowheads="1"/>
          </p:cNvSpPr>
          <p:nvPr/>
        </p:nvSpPr>
        <p:spPr bwMode="auto">
          <a:xfrm>
            <a:off x="1948339" y="2883018"/>
            <a:ext cx="751453" cy="486426"/>
          </a:xfrm>
          <a:prstGeom prst="flowChartDocument">
            <a:avLst/>
          </a:prstGeom>
          <a:solidFill>
            <a:srgbClr val="CCFFFF"/>
          </a:solidFill>
          <a:ln w="12700" algn="ctr">
            <a:solidFill>
              <a:srgbClr val="00FF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ja-JP" altLang="en-US" dirty="0" smtClean="0"/>
              <a:t>注文書</a:t>
            </a:r>
            <a:endParaRPr lang="ja-JP" altLang="en-US" dirty="0"/>
          </a:p>
        </p:txBody>
      </p:sp>
      <p:sp>
        <p:nvSpPr>
          <p:cNvPr id="120" name="フローチャート : 定義済み処理 119"/>
          <p:cNvSpPr/>
          <p:nvPr/>
        </p:nvSpPr>
        <p:spPr bwMode="auto">
          <a:xfrm>
            <a:off x="4932040" y="2169730"/>
            <a:ext cx="1080120" cy="340942"/>
          </a:xfrm>
          <a:prstGeom prst="flowChartPredefinedProcess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 smtClean="0"/>
              <a:t>生産計画確定</a:t>
            </a:r>
            <a:endParaRPr lang="en-US" altLang="ja-JP" dirty="0" smtClean="0"/>
          </a:p>
        </p:txBody>
      </p:sp>
      <p:sp>
        <p:nvSpPr>
          <p:cNvPr id="121" name="フローチャート : 定義済み処理 120"/>
          <p:cNvSpPr/>
          <p:nvPr/>
        </p:nvSpPr>
        <p:spPr bwMode="auto">
          <a:xfrm>
            <a:off x="4932040" y="2689997"/>
            <a:ext cx="1080120" cy="340942"/>
          </a:xfrm>
          <a:prstGeom prst="flowChartPredefinedProcess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 smtClean="0"/>
              <a:t>出荷計画確定</a:t>
            </a:r>
            <a:endParaRPr lang="en-US" altLang="ja-JP" dirty="0" smtClean="0"/>
          </a:p>
        </p:txBody>
      </p:sp>
      <p:sp>
        <p:nvSpPr>
          <p:cNvPr id="128" name="AutoShape 86"/>
          <p:cNvSpPr>
            <a:spLocks noChangeArrowheads="1"/>
          </p:cNvSpPr>
          <p:nvPr/>
        </p:nvSpPr>
        <p:spPr bwMode="auto">
          <a:xfrm>
            <a:off x="3076422" y="5025670"/>
            <a:ext cx="720080" cy="381898"/>
          </a:xfrm>
          <a:prstGeom prst="flowChartProcess">
            <a:avLst/>
          </a:prstGeom>
          <a:solidFill>
            <a:srgbClr val="FF99CC"/>
          </a:solidFill>
          <a:ln w="12700" algn="ctr">
            <a:solidFill>
              <a:srgbClr val="FF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altLang="ja-JP" dirty="0" smtClean="0"/>
          </a:p>
        </p:txBody>
      </p:sp>
      <p:sp>
        <p:nvSpPr>
          <p:cNvPr id="129" name="AutoShape 211"/>
          <p:cNvSpPr>
            <a:spLocks noChangeArrowheads="1"/>
          </p:cNvSpPr>
          <p:nvPr/>
        </p:nvSpPr>
        <p:spPr bwMode="auto">
          <a:xfrm rot="10800000">
            <a:off x="3148428" y="5407566"/>
            <a:ext cx="597293" cy="194166"/>
          </a:xfrm>
          <a:custGeom>
            <a:avLst/>
            <a:gdLst>
              <a:gd name="T0" fmla="*/ 2147483647 w 21600"/>
              <a:gd name="T1" fmla="*/ 4273421 h 21600"/>
              <a:gd name="T2" fmla="*/ 2147483647 w 21600"/>
              <a:gd name="T3" fmla="*/ 8546730 h 21600"/>
              <a:gd name="T4" fmla="*/ 1124737498 w 21600"/>
              <a:gd name="T5" fmla="*/ 42734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CC"/>
          </a:solidFill>
          <a:ln w="12700" algn="ctr">
            <a:solidFill>
              <a:srgbClr val="FF00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ja-JP" altLang="en-US"/>
          </a:p>
        </p:txBody>
      </p:sp>
      <p:sp>
        <p:nvSpPr>
          <p:cNvPr id="130" name="平行四辺形 129"/>
          <p:cNvSpPr/>
          <p:nvPr/>
        </p:nvSpPr>
        <p:spPr bwMode="auto">
          <a:xfrm>
            <a:off x="3148430" y="4710477"/>
            <a:ext cx="594588" cy="243184"/>
          </a:xfrm>
          <a:prstGeom prst="parallelogram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/>
              <a:t>発注</a:t>
            </a:r>
            <a:endParaRPr lang="en-US" altLang="ja-JP" dirty="0" smtClean="0"/>
          </a:p>
        </p:txBody>
      </p:sp>
      <p:sp>
        <p:nvSpPr>
          <p:cNvPr id="131" name="平行四辺形 130"/>
          <p:cNvSpPr/>
          <p:nvPr/>
        </p:nvSpPr>
        <p:spPr bwMode="auto">
          <a:xfrm>
            <a:off x="3174188" y="3081453"/>
            <a:ext cx="594588" cy="243184"/>
          </a:xfrm>
          <a:prstGeom prst="parallelogram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/>
              <a:t>発注</a:t>
            </a:r>
            <a:endParaRPr lang="en-US" altLang="ja-JP" dirty="0" smtClean="0"/>
          </a:p>
        </p:txBody>
      </p:sp>
      <p:sp>
        <p:nvSpPr>
          <p:cNvPr id="132" name="AutoShape 86"/>
          <p:cNvSpPr>
            <a:spLocks noChangeArrowheads="1"/>
          </p:cNvSpPr>
          <p:nvPr/>
        </p:nvSpPr>
        <p:spPr bwMode="auto">
          <a:xfrm>
            <a:off x="3088388" y="2404039"/>
            <a:ext cx="720080" cy="381898"/>
          </a:xfrm>
          <a:prstGeom prst="flowChartProcess">
            <a:avLst/>
          </a:pr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altLang="ja-JP" dirty="0" smtClean="0"/>
          </a:p>
        </p:txBody>
      </p:sp>
      <p:sp>
        <p:nvSpPr>
          <p:cNvPr id="133" name="AutoShape 211"/>
          <p:cNvSpPr>
            <a:spLocks noChangeArrowheads="1"/>
          </p:cNvSpPr>
          <p:nvPr/>
        </p:nvSpPr>
        <p:spPr bwMode="auto">
          <a:xfrm rot="10800000">
            <a:off x="3160394" y="2785935"/>
            <a:ext cx="597293" cy="194166"/>
          </a:xfrm>
          <a:custGeom>
            <a:avLst/>
            <a:gdLst>
              <a:gd name="T0" fmla="*/ 2147483647 w 21600"/>
              <a:gd name="T1" fmla="*/ 4273421 h 21600"/>
              <a:gd name="T2" fmla="*/ 2147483647 w 21600"/>
              <a:gd name="T3" fmla="*/ 8546730 h 21600"/>
              <a:gd name="T4" fmla="*/ 1124737498 w 21600"/>
              <a:gd name="T5" fmla="*/ 42734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ja-JP" altLang="en-US"/>
          </a:p>
        </p:txBody>
      </p:sp>
      <p:cxnSp>
        <p:nvCxnSpPr>
          <p:cNvPr id="134" name="カギ線コネクタ 133"/>
          <p:cNvCxnSpPr>
            <a:stCxn id="130" idx="0"/>
            <a:endCxn id="131" idx="4"/>
          </p:cNvCxnSpPr>
          <p:nvPr/>
        </p:nvCxnSpPr>
        <p:spPr bwMode="auto">
          <a:xfrm rot="5400000" flipH="1" flipV="1">
            <a:off x="2765683" y="4004678"/>
            <a:ext cx="1385840" cy="25758"/>
          </a:xfrm>
          <a:prstGeom prst="bentConnector3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5" name="カギ線コネクタ 134"/>
          <p:cNvCxnSpPr>
            <a:stCxn id="130" idx="0"/>
          </p:cNvCxnSpPr>
          <p:nvPr/>
        </p:nvCxnSpPr>
        <p:spPr bwMode="auto">
          <a:xfrm rot="5400000" flipH="1" flipV="1">
            <a:off x="3233049" y="3570960"/>
            <a:ext cx="1352193" cy="926842"/>
          </a:xfrm>
          <a:prstGeom prst="bentConnector3">
            <a:avLst>
              <a:gd name="adj1" fmla="val 50000"/>
            </a:avLst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7" name="Line 106"/>
          <p:cNvSpPr>
            <a:spLocks noChangeShapeType="1"/>
          </p:cNvSpPr>
          <p:nvPr/>
        </p:nvSpPr>
        <p:spPr bwMode="auto">
          <a:xfrm flipV="1">
            <a:off x="4801769" y="919117"/>
            <a:ext cx="5372" cy="54730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38" name="AutoShape 217"/>
          <p:cNvSpPr>
            <a:spLocks noChangeArrowheads="1"/>
          </p:cNvSpPr>
          <p:nvPr/>
        </p:nvSpPr>
        <p:spPr bwMode="auto">
          <a:xfrm>
            <a:off x="3988279" y="2871858"/>
            <a:ext cx="751453" cy="486426"/>
          </a:xfrm>
          <a:prstGeom prst="flowChartDocument">
            <a:avLst/>
          </a:prstGeom>
          <a:solidFill>
            <a:srgbClr val="CCFFFF"/>
          </a:solidFill>
          <a:ln w="12700" algn="ctr">
            <a:solidFill>
              <a:srgbClr val="00FF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ja-JP" altLang="en-US" dirty="0" smtClean="0"/>
              <a:t>手配変更</a:t>
            </a:r>
            <a:endParaRPr lang="en-US" altLang="ja-JP" dirty="0" smtClean="0"/>
          </a:p>
          <a:p>
            <a:r>
              <a:rPr lang="ja-JP" altLang="en-US" dirty="0"/>
              <a:t>通知書</a:t>
            </a:r>
          </a:p>
        </p:txBody>
      </p:sp>
      <p:sp>
        <p:nvSpPr>
          <p:cNvPr id="139" name="Rectangle 6"/>
          <p:cNvSpPr>
            <a:spLocks noChangeArrowheads="1"/>
          </p:cNvSpPr>
          <p:nvPr/>
        </p:nvSpPr>
        <p:spPr bwMode="auto">
          <a:xfrm>
            <a:off x="1127582" y="1010517"/>
            <a:ext cx="1512168" cy="203200"/>
          </a:xfrm>
          <a:prstGeom prst="rect">
            <a:avLst/>
          </a:prstGeom>
          <a:solidFill>
            <a:srgbClr val="CC99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ja-JP" altLang="en-US" sz="1000" dirty="0">
                <a:latin typeface="Times New Roman" pitchFamily="18" charset="0"/>
              </a:rPr>
              <a:t>発注</a:t>
            </a:r>
          </a:p>
        </p:txBody>
      </p:sp>
      <p:sp>
        <p:nvSpPr>
          <p:cNvPr id="140" name="Rectangle 6"/>
          <p:cNvSpPr>
            <a:spLocks noChangeArrowheads="1"/>
          </p:cNvSpPr>
          <p:nvPr/>
        </p:nvSpPr>
        <p:spPr bwMode="auto">
          <a:xfrm>
            <a:off x="3114175" y="1003820"/>
            <a:ext cx="1512168" cy="203200"/>
          </a:xfrm>
          <a:prstGeom prst="rect">
            <a:avLst/>
          </a:prstGeom>
          <a:solidFill>
            <a:srgbClr val="CC99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ja-JP" altLang="en-US" sz="1000" dirty="0" smtClean="0">
                <a:latin typeface="Times New Roman" pitchFamily="18" charset="0"/>
              </a:rPr>
              <a:t>発注</a:t>
            </a:r>
            <a:endParaRPr lang="ja-JP" altLang="en-US" sz="1000" dirty="0">
              <a:latin typeface="Times New Roman" pitchFamily="18" charset="0"/>
            </a:endParaRPr>
          </a:p>
        </p:txBody>
      </p:sp>
      <p:sp>
        <p:nvSpPr>
          <p:cNvPr id="16" name="雲 15"/>
          <p:cNvSpPr/>
          <p:nvPr/>
        </p:nvSpPr>
        <p:spPr bwMode="auto">
          <a:xfrm>
            <a:off x="3501613" y="1323940"/>
            <a:ext cx="1350486" cy="576064"/>
          </a:xfrm>
          <a:prstGeom prst="cloud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G丸ｺﾞｼｯｸM-PRO" pitchFamily="50" charset="-128"/>
                <a:ea typeface="HG丸ｺﾞｼｯｸM-PRO" pitchFamily="50" charset="-128"/>
              </a:rPr>
              <a:t>発注に変更があった場合</a:t>
            </a:r>
          </a:p>
        </p:txBody>
      </p:sp>
      <p:sp>
        <p:nvSpPr>
          <p:cNvPr id="141" name="テキスト ボックス 140"/>
          <p:cNvSpPr txBox="1"/>
          <p:nvPr/>
        </p:nvSpPr>
        <p:spPr>
          <a:xfrm>
            <a:off x="3095314" y="2420888"/>
            <a:ext cx="713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出荷予定</a:t>
            </a:r>
            <a:endParaRPr lang="en-US" altLang="ja-JP" dirty="0" smtClean="0"/>
          </a:p>
          <a:p>
            <a:r>
              <a:rPr lang="ja-JP" altLang="en-US" dirty="0"/>
              <a:t>登録</a:t>
            </a:r>
            <a:endParaRPr lang="en-US" altLang="ja-JP" dirty="0" smtClean="0"/>
          </a:p>
        </p:txBody>
      </p:sp>
      <p:sp>
        <p:nvSpPr>
          <p:cNvPr id="142" name="テキスト ボックス 141"/>
          <p:cNvSpPr txBox="1"/>
          <p:nvPr/>
        </p:nvSpPr>
        <p:spPr>
          <a:xfrm>
            <a:off x="2987824" y="2204864"/>
            <a:ext cx="5162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dirty="0" smtClean="0"/>
              <a:t>TAM</a:t>
            </a:r>
          </a:p>
        </p:txBody>
      </p:sp>
      <p:sp>
        <p:nvSpPr>
          <p:cNvPr id="143" name="テキスト ボックス 142"/>
          <p:cNvSpPr txBox="1"/>
          <p:nvPr/>
        </p:nvSpPr>
        <p:spPr>
          <a:xfrm>
            <a:off x="1031457" y="2204864"/>
            <a:ext cx="5162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dirty="0" smtClean="0"/>
              <a:t>TAM</a:t>
            </a:r>
          </a:p>
        </p:txBody>
      </p:sp>
      <p:sp>
        <p:nvSpPr>
          <p:cNvPr id="144" name="AutoShape 86"/>
          <p:cNvSpPr>
            <a:spLocks noChangeArrowheads="1"/>
          </p:cNvSpPr>
          <p:nvPr/>
        </p:nvSpPr>
        <p:spPr bwMode="auto">
          <a:xfrm>
            <a:off x="1163586" y="2420888"/>
            <a:ext cx="720080" cy="381898"/>
          </a:xfrm>
          <a:prstGeom prst="flowChartProcess">
            <a:avLst/>
          </a:pr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altLang="ja-JP" dirty="0" smtClean="0"/>
          </a:p>
        </p:txBody>
      </p:sp>
      <p:sp>
        <p:nvSpPr>
          <p:cNvPr id="145" name="AutoShape 211"/>
          <p:cNvSpPr>
            <a:spLocks noChangeArrowheads="1"/>
          </p:cNvSpPr>
          <p:nvPr/>
        </p:nvSpPr>
        <p:spPr bwMode="auto">
          <a:xfrm rot="10800000">
            <a:off x="1235592" y="2802784"/>
            <a:ext cx="597293" cy="194166"/>
          </a:xfrm>
          <a:custGeom>
            <a:avLst/>
            <a:gdLst>
              <a:gd name="T0" fmla="*/ 2147483647 w 21600"/>
              <a:gd name="T1" fmla="*/ 4273421 h 21600"/>
              <a:gd name="T2" fmla="*/ 2147483647 w 21600"/>
              <a:gd name="T3" fmla="*/ 8546730 h 21600"/>
              <a:gd name="T4" fmla="*/ 1124737498 w 21600"/>
              <a:gd name="T5" fmla="*/ 42734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ja-JP" altLang="en-US"/>
          </a:p>
        </p:txBody>
      </p:sp>
      <p:sp>
        <p:nvSpPr>
          <p:cNvPr id="146" name="テキスト ボックス 145"/>
          <p:cNvSpPr txBox="1"/>
          <p:nvPr/>
        </p:nvSpPr>
        <p:spPr>
          <a:xfrm>
            <a:off x="1170512" y="2437737"/>
            <a:ext cx="713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出荷予定</a:t>
            </a:r>
            <a:endParaRPr lang="en-US" altLang="ja-JP" dirty="0" smtClean="0"/>
          </a:p>
          <a:p>
            <a:r>
              <a:rPr lang="ja-JP" altLang="en-US" dirty="0"/>
              <a:t>登録</a:t>
            </a:r>
            <a:endParaRPr lang="en-US" altLang="ja-JP" dirty="0" smtClean="0"/>
          </a:p>
        </p:txBody>
      </p:sp>
      <p:sp>
        <p:nvSpPr>
          <p:cNvPr id="147" name="AutoShape 86"/>
          <p:cNvSpPr>
            <a:spLocks noChangeArrowheads="1"/>
          </p:cNvSpPr>
          <p:nvPr/>
        </p:nvSpPr>
        <p:spPr bwMode="auto">
          <a:xfrm>
            <a:off x="6190929" y="2018738"/>
            <a:ext cx="720080" cy="381898"/>
          </a:xfrm>
          <a:prstGeom prst="flowChartProcess">
            <a:avLst/>
          </a:pr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altLang="ja-JP" dirty="0" smtClean="0"/>
          </a:p>
        </p:txBody>
      </p:sp>
      <p:sp>
        <p:nvSpPr>
          <p:cNvPr id="148" name="AutoShape 211"/>
          <p:cNvSpPr>
            <a:spLocks noChangeArrowheads="1"/>
          </p:cNvSpPr>
          <p:nvPr/>
        </p:nvSpPr>
        <p:spPr bwMode="auto">
          <a:xfrm rot="10800000">
            <a:off x="6262935" y="2400634"/>
            <a:ext cx="597293" cy="194166"/>
          </a:xfrm>
          <a:custGeom>
            <a:avLst/>
            <a:gdLst>
              <a:gd name="T0" fmla="*/ 2147483647 w 21600"/>
              <a:gd name="T1" fmla="*/ 4273421 h 21600"/>
              <a:gd name="T2" fmla="*/ 2147483647 w 21600"/>
              <a:gd name="T3" fmla="*/ 8546730 h 21600"/>
              <a:gd name="T4" fmla="*/ 1124737498 w 21600"/>
              <a:gd name="T5" fmla="*/ 42734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ja-JP" altLang="en-US"/>
          </a:p>
        </p:txBody>
      </p:sp>
      <p:sp>
        <p:nvSpPr>
          <p:cNvPr id="149" name="テキスト ボックス 148"/>
          <p:cNvSpPr txBox="1"/>
          <p:nvPr/>
        </p:nvSpPr>
        <p:spPr>
          <a:xfrm>
            <a:off x="6197855" y="2035587"/>
            <a:ext cx="713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コンテナ</a:t>
            </a:r>
            <a:endParaRPr lang="en-US" altLang="ja-JP" dirty="0" smtClean="0"/>
          </a:p>
          <a:p>
            <a:r>
              <a:rPr lang="ja-JP" altLang="en-US" dirty="0"/>
              <a:t>登録</a:t>
            </a:r>
            <a:endParaRPr lang="en-US" altLang="ja-JP" dirty="0" smtClean="0"/>
          </a:p>
        </p:txBody>
      </p:sp>
      <p:sp>
        <p:nvSpPr>
          <p:cNvPr id="150" name="テキスト ボックス 149"/>
          <p:cNvSpPr txBox="1"/>
          <p:nvPr/>
        </p:nvSpPr>
        <p:spPr>
          <a:xfrm>
            <a:off x="6090365" y="1819563"/>
            <a:ext cx="5162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dirty="0" smtClean="0"/>
              <a:t>TAM</a:t>
            </a:r>
          </a:p>
        </p:txBody>
      </p:sp>
      <p:sp>
        <p:nvSpPr>
          <p:cNvPr id="151" name="AutoShape 86"/>
          <p:cNvSpPr>
            <a:spLocks noChangeArrowheads="1"/>
          </p:cNvSpPr>
          <p:nvPr/>
        </p:nvSpPr>
        <p:spPr bwMode="auto">
          <a:xfrm>
            <a:off x="6270266" y="5052165"/>
            <a:ext cx="720080" cy="381898"/>
          </a:xfrm>
          <a:prstGeom prst="flowChartProcess">
            <a:avLst/>
          </a:pr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altLang="ja-JP" dirty="0" smtClean="0"/>
          </a:p>
        </p:txBody>
      </p:sp>
      <p:sp>
        <p:nvSpPr>
          <p:cNvPr id="152" name="AutoShape 211"/>
          <p:cNvSpPr>
            <a:spLocks noChangeArrowheads="1"/>
          </p:cNvSpPr>
          <p:nvPr/>
        </p:nvSpPr>
        <p:spPr bwMode="auto">
          <a:xfrm rot="10800000">
            <a:off x="6342272" y="5434061"/>
            <a:ext cx="597293" cy="194166"/>
          </a:xfrm>
          <a:custGeom>
            <a:avLst/>
            <a:gdLst>
              <a:gd name="T0" fmla="*/ 2147483647 w 21600"/>
              <a:gd name="T1" fmla="*/ 4273421 h 21600"/>
              <a:gd name="T2" fmla="*/ 2147483647 w 21600"/>
              <a:gd name="T3" fmla="*/ 8546730 h 21600"/>
              <a:gd name="T4" fmla="*/ 1124737498 w 21600"/>
              <a:gd name="T5" fmla="*/ 42734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ja-JP" altLang="en-US"/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6277192" y="5069014"/>
            <a:ext cx="713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出荷予定</a:t>
            </a:r>
            <a:endParaRPr lang="en-US" altLang="ja-JP" dirty="0" smtClean="0"/>
          </a:p>
          <a:p>
            <a:r>
              <a:rPr lang="ja-JP" altLang="en-US" dirty="0"/>
              <a:t>確認</a:t>
            </a:r>
            <a:endParaRPr lang="en-US" altLang="ja-JP" dirty="0" smtClean="0"/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6012160" y="4793336"/>
            <a:ext cx="5162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dirty="0" smtClean="0"/>
              <a:t>TAM</a:t>
            </a:r>
          </a:p>
        </p:txBody>
      </p:sp>
      <p:sp>
        <p:nvSpPr>
          <p:cNvPr id="159" name="AutoShape 86"/>
          <p:cNvSpPr>
            <a:spLocks noChangeArrowheads="1"/>
          </p:cNvSpPr>
          <p:nvPr/>
        </p:nvSpPr>
        <p:spPr bwMode="auto">
          <a:xfrm>
            <a:off x="6198258" y="2908095"/>
            <a:ext cx="720080" cy="381898"/>
          </a:xfrm>
          <a:prstGeom prst="flowChartProcess">
            <a:avLst/>
          </a:pr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altLang="ja-JP" dirty="0" smtClean="0"/>
          </a:p>
        </p:txBody>
      </p:sp>
      <p:sp>
        <p:nvSpPr>
          <p:cNvPr id="160" name="AutoShape 211"/>
          <p:cNvSpPr>
            <a:spLocks noChangeArrowheads="1"/>
          </p:cNvSpPr>
          <p:nvPr/>
        </p:nvSpPr>
        <p:spPr bwMode="auto">
          <a:xfrm rot="10800000">
            <a:off x="6270264" y="3289991"/>
            <a:ext cx="597293" cy="194166"/>
          </a:xfrm>
          <a:custGeom>
            <a:avLst/>
            <a:gdLst>
              <a:gd name="T0" fmla="*/ 2147483647 w 21600"/>
              <a:gd name="T1" fmla="*/ 4273421 h 21600"/>
              <a:gd name="T2" fmla="*/ 2147483647 w 21600"/>
              <a:gd name="T3" fmla="*/ 8546730 h 21600"/>
              <a:gd name="T4" fmla="*/ 1124737498 w 21600"/>
              <a:gd name="T5" fmla="*/ 42734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 w="12700" algn="ctr">
            <a:solidFill>
              <a:srgbClr val="FF00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endParaRPr lang="ja-JP" altLang="en-US"/>
          </a:p>
        </p:txBody>
      </p:sp>
      <p:sp>
        <p:nvSpPr>
          <p:cNvPr id="161" name="テキスト ボックス 160"/>
          <p:cNvSpPr txBox="1"/>
          <p:nvPr/>
        </p:nvSpPr>
        <p:spPr>
          <a:xfrm>
            <a:off x="6205184" y="2924944"/>
            <a:ext cx="713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出荷予定</a:t>
            </a:r>
            <a:endParaRPr lang="en-US" altLang="ja-JP" dirty="0" smtClean="0"/>
          </a:p>
          <a:p>
            <a:r>
              <a:rPr lang="ja-JP" altLang="en-US" dirty="0"/>
              <a:t>登録</a:t>
            </a:r>
            <a:endParaRPr lang="en-US" altLang="ja-JP" dirty="0" smtClean="0"/>
          </a:p>
        </p:txBody>
      </p:sp>
      <p:sp>
        <p:nvSpPr>
          <p:cNvPr id="162" name="テキスト ボックス 161"/>
          <p:cNvSpPr txBox="1"/>
          <p:nvPr/>
        </p:nvSpPr>
        <p:spPr>
          <a:xfrm>
            <a:off x="6097694" y="2708920"/>
            <a:ext cx="5162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dirty="0" smtClean="0"/>
              <a:t>TAM</a:t>
            </a:r>
          </a:p>
        </p:txBody>
      </p:sp>
      <p:cxnSp>
        <p:nvCxnSpPr>
          <p:cNvPr id="163" name="カギ線コネクタ 162"/>
          <p:cNvCxnSpPr>
            <a:endCxn id="151" idx="0"/>
          </p:cNvCxnSpPr>
          <p:nvPr/>
        </p:nvCxnSpPr>
        <p:spPr bwMode="auto">
          <a:xfrm rot="16200000" flipH="1">
            <a:off x="5815606" y="4237464"/>
            <a:ext cx="1568009" cy="61392"/>
          </a:xfrm>
          <a:prstGeom prst="bentConnector3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4" name="カギ線コネクタ 163"/>
          <p:cNvCxnSpPr>
            <a:endCxn id="477185" idx="2"/>
          </p:cNvCxnSpPr>
          <p:nvPr/>
        </p:nvCxnSpPr>
        <p:spPr bwMode="auto">
          <a:xfrm rot="5400000" flipH="1" flipV="1">
            <a:off x="6480339" y="3568117"/>
            <a:ext cx="1853602" cy="1098472"/>
          </a:xfrm>
          <a:prstGeom prst="bentConnector3">
            <a:avLst>
              <a:gd name="adj1" fmla="val 50000"/>
            </a:avLst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5" name="テキスト ボックス 164"/>
          <p:cNvSpPr txBox="1"/>
          <p:nvPr/>
        </p:nvSpPr>
        <p:spPr>
          <a:xfrm>
            <a:off x="6550969" y="5630644"/>
            <a:ext cx="12337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1050" dirty="0" smtClean="0"/>
              <a:t>承認 </a:t>
            </a:r>
            <a:r>
              <a:rPr lang="en-US" altLang="ja-JP" sz="1050" dirty="0" smtClean="0"/>
              <a:t>or </a:t>
            </a:r>
            <a:r>
              <a:rPr lang="ja-JP" altLang="en-US" sz="1050" dirty="0" smtClean="0"/>
              <a:t>再検討</a:t>
            </a:r>
            <a:endParaRPr lang="en-US" altLang="ja-JP" sz="1050" dirty="0" smtClean="0"/>
          </a:p>
        </p:txBody>
      </p:sp>
      <p:sp>
        <p:nvSpPr>
          <p:cNvPr id="166" name="Rectangle 6"/>
          <p:cNvSpPr>
            <a:spLocks noChangeArrowheads="1"/>
          </p:cNvSpPr>
          <p:nvPr/>
        </p:nvSpPr>
        <p:spPr bwMode="auto">
          <a:xfrm>
            <a:off x="4932040" y="1010517"/>
            <a:ext cx="3744416" cy="203200"/>
          </a:xfrm>
          <a:prstGeom prst="rect">
            <a:avLst/>
          </a:prstGeom>
          <a:solidFill>
            <a:srgbClr val="CC99F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ja-JP" altLang="en-US" sz="1000" dirty="0" smtClean="0">
                <a:latin typeface="Times New Roman" pitchFamily="18" charset="0"/>
              </a:rPr>
              <a:t>出荷予定登録</a:t>
            </a:r>
            <a:endParaRPr lang="ja-JP" altLang="en-US" sz="1000" dirty="0">
              <a:latin typeface="Times New Roman" pitchFamily="18" charset="0"/>
            </a:endParaRPr>
          </a:p>
        </p:txBody>
      </p:sp>
      <p:pic>
        <p:nvPicPr>
          <p:cNvPr id="1026" name="Picture 2" descr="ã¯ãªãã¯ããã¨æ°ããã¦ã£ã³ãã¦ã§éãã¾ã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488424"/>
            <a:ext cx="398367" cy="29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Picture 2" descr="ã¯ãªãã¯ããã¨æ°ããã¦ã£ã³ãã¦ã§éãã¾ã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358" y="3506244"/>
            <a:ext cx="398367" cy="29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Picture 2" descr="ã¯ãªãã¯ããã¨æ°ããã¦ã£ã³ãã¦ã§éãã¾ã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3490265"/>
            <a:ext cx="398367" cy="29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7185" name="角丸四角形 477184"/>
          <p:cNvSpPr/>
          <p:nvPr/>
        </p:nvSpPr>
        <p:spPr bwMode="auto">
          <a:xfrm>
            <a:off x="7452320" y="2924364"/>
            <a:ext cx="1008112" cy="266188"/>
          </a:xfrm>
          <a:prstGeom prst="roundRect">
            <a:avLst/>
          </a:prstGeom>
          <a:solidFill>
            <a:srgbClr val="FFFF99"/>
          </a:solidFill>
          <a:ln w="127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/>
              <a:t>承認 </a:t>
            </a:r>
            <a:r>
              <a:rPr lang="en-US" altLang="ja-JP" dirty="0"/>
              <a:t>or </a:t>
            </a:r>
            <a:r>
              <a:rPr lang="ja-JP" altLang="en-US" dirty="0" smtClean="0"/>
              <a:t>再検討</a:t>
            </a:r>
            <a:endParaRPr kumimoji="1" lang="ja-JP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G丸ｺﾞｼｯｸM-PRO" pitchFamily="50" charset="-128"/>
              <a:ea typeface="HG丸ｺﾞｼｯｸM-PRO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243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ater">
  <a:themeElements>
    <a:clrScheme name="wa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ater">
      <a:majorFont>
        <a:latin typeface="HG丸ｺﾞｼｯｸM-PRO"/>
        <a:ea typeface="HG丸ｺﾞｼｯｸM-PRO"/>
        <a:cs typeface=""/>
      </a:majorFont>
      <a:minorFont>
        <a:latin typeface="HG丸ｺﾞｼｯｸM-PRO"/>
        <a:ea typeface="HG丸ｺﾞｼｯｸM-PR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12700" cap="flat" cmpd="sng" algn="ctr">
          <a:solidFill>
            <a:srgbClr val="FFC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G丸ｺﾞｼｯｸM-PRO" pitchFamily="50" charset="-128"/>
            <a:ea typeface="HG丸ｺﾞｼｯｸM-PRO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12700" cap="flat" cmpd="sng" algn="ctr">
          <a:solidFill>
            <a:srgbClr val="FFC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G丸ｺﾞｼｯｸM-PRO" pitchFamily="50" charset="-128"/>
            <a:ea typeface="HG丸ｺﾞｼｯｸM-PRO" pitchFamily="50" charset="-128"/>
          </a:defRPr>
        </a:defPPr>
      </a:lstStyle>
    </a:lnDef>
  </a:objectDefaults>
  <a:extraClrSchemeLst>
    <a:extraClrScheme>
      <a:clrScheme name="wa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</Template>
  <TotalTime>58288</TotalTime>
  <Words>66</Words>
  <Application>Microsoft Office PowerPoint</Application>
  <PresentationFormat>画面に合わせる (4:3)</PresentationFormat>
  <Paragraphs>35</Paragraphs>
  <Slides>1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water</vt:lpstr>
      <vt:lpstr>1．ＴＡＭ　運用イメージ</vt:lpstr>
    </vt:vector>
  </TitlesOfParts>
  <Company>タイガー魔法瓶株式会社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タイガー魔法瓶株式会社</dc:creator>
  <cp:lastModifiedBy>タイガー魔法瓶株式会社</cp:lastModifiedBy>
  <cp:revision>1965</cp:revision>
  <cp:lastPrinted>2019-04-12T00:54:15Z</cp:lastPrinted>
  <dcterms:created xsi:type="dcterms:W3CDTF">2011-05-25T10:00:00Z</dcterms:created>
  <dcterms:modified xsi:type="dcterms:W3CDTF">2019-04-12T00:55:07Z</dcterms:modified>
</cp:coreProperties>
</file>